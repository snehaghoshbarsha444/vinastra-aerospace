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1-1.jpg" ContentType="image/jpg"/>
  <Override PartName="/ppt/media/image-12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2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5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hero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1216152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F"/>
                </a:solidFill>
              </a:rPr>
              <a:t>AUTONOMOUS INDUSTRIAL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BFF"/>
                </a:solidFill>
              </a:rPr>
              <a:t>INFRASTRUCTURE FOR SPACE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25877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B246"/>
                </a:solidFill>
              </a:rPr>
              <a:t>Investor Pitch Deck 2026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58368" y="299008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B9C7D8"/>
                </a:solidFill>
              </a:rPr>
              <a:t>AI-integrated autonomous robotics, additive manufacturing and ground-supervised construction systems for building factory-scale infrastructure beyond Earth.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658368" y="4041648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1B73FF">
              <a:alpha val="92000"/>
            </a:srgbClr>
          </a:solidFill>
          <a:ln w="12700">
            <a:solidFill>
              <a:srgbClr val="1B73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31520" y="4123944"/>
            <a:ext cx="10607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7FBFF"/>
                </a:solidFill>
              </a:rPr>
              <a:t>ASCS Platform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2029968" y="40416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00D8FF">
              <a:alpha val="92000"/>
            </a:srgbClr>
          </a:solidFill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103120" y="4123944"/>
            <a:ext cx="1362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7FBFF"/>
                </a:solidFill>
              </a:rPr>
              <a:t>Deep-Space Factory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3703320" y="4041648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FB246">
              <a:alpha val="92000"/>
            </a:srgbClr>
          </a:solidFill>
          <a:ln w="12700">
            <a:solidFill>
              <a:srgbClr val="FFB24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776472" y="4123944"/>
            <a:ext cx="15910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7FBFF"/>
                </a:solidFill>
              </a:rPr>
              <a:t>Space Resource Economy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658368" y="6172200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7FBFF"/>
                </a:solidFill>
              </a:rPr>
              <a:t>VINASTRA AEROSPACE PRIVATE LIMITED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01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From Earth to Asteroids — Building the Future of Space Industry</a:t>
            </a:r>
            <a:endParaRPr lang="en-US" sz="620" dirty="0"/>
          </a:p>
        </p:txBody>
      </p:sp>
      <p:sp>
        <p:nvSpPr>
          <p:cNvPr id="17" name="Shape 14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earth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The problem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Space infrastructure cannot scale if every factory, station and structure must be launched complete from Earth.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749808" y="20574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FFB24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96112" y="2203704"/>
            <a:ext cx="3044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B246"/>
                </a:solidFill>
              </a:rPr>
              <a:t>Launch dependence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896112" y="2532888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Large structures are limited by payload mass, fairing volume and launch cost.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49808" y="3456432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96112" y="3602736"/>
            <a:ext cx="3044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Human construction limits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896112" y="3931920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Deep-space construction cannot rely on astronauts for every assembly, inspection and repair task.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49808" y="4864608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1B73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96112" y="5010912"/>
            <a:ext cx="3044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B73FF"/>
                </a:solidFill>
              </a:rPr>
              <a:t>No local industry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896112" y="5340096"/>
            <a:ext cx="3044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Future Moon, Mars, asteroid and deep-space missions need local manufacturing, servicing and materials processing.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559552" y="203911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The bottleneck is industrial capability beyond Earth.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77840" y="297180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D8FF"/>
                </a:solidFill>
              </a:rPr>
              <a:t>The next leap is not only reaching space — it is building, repairing and manufacturing there.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623560" y="3977640"/>
            <a:ext cx="51663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40" dirty="0">
                <a:solidFill>
                  <a:srgbClr val="F7FBFF"/>
                </a:solidFill>
              </a:rPr>
              <a:t>Robotic construction reduces dependence on human EVA and Earth-launched finished structures.</a:t>
            </a:r>
            <a:endParaRPr lang="en-US" sz="1140" dirty="0"/>
          </a:p>
          <a:p>
            <a:r>
              <a:rPr lang="en-US" sz="1140" dirty="0">
                <a:solidFill>
                  <a:srgbClr val="F7FBFF"/>
                </a:solidFill>
              </a:rPr>
              <a:t>Additive manufacturing can convert feedstock into usable parts and structures.</a:t>
            </a:r>
            <a:endParaRPr lang="en-US" sz="1140" dirty="0"/>
          </a:p>
          <a:p>
            <a:r>
              <a:rPr lang="en-US" sz="1140" dirty="0">
                <a:solidFill>
                  <a:srgbClr val="F7FBFF"/>
                </a:solidFill>
              </a:rPr>
              <a:t>Autonomy is required because deep-space communication delays prevent real-time manual control.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02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1" name="Shape 18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construction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Our solution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Launch intelligent machines that can construct, inspect and expand the Vinastra Space Factory.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658368" y="18745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7FBFF"/>
                </a:solidFill>
              </a:rPr>
              <a:t>Vinastra is building the autonomous construction layer required before full-scale space factories can exist.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2103120" y="3410712"/>
            <a:ext cx="667512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77240" y="2999232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68680" y="31089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Digital factory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blueprint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206240" y="3410712"/>
            <a:ext cx="667512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880360" y="2999232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FB24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971800" y="31089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AI robotic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construction fleet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6309360" y="3410712"/>
            <a:ext cx="667512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983480" y="2999232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74920" y="31089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3D-print +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assemble modules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8412480" y="3410712"/>
            <a:ext cx="667512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086600" y="2999232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178040" y="31089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Inspect, repair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and recover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9189720" y="2999232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281160" y="31089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Commission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space factory</a:t>
            </a:r>
            <a:endParaRPr lang="en-US" sz="930" dirty="0"/>
          </a:p>
        </p:txBody>
      </p:sp>
      <p:sp>
        <p:nvSpPr>
          <p:cNvPr id="22" name="Text 19"/>
          <p:cNvSpPr/>
          <p:nvPr/>
        </p:nvSpPr>
        <p:spPr>
          <a:xfrm>
            <a:off x="731520" y="489204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B246"/>
                </a:solidFill>
              </a:rPr>
              <a:t>Core thesis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731520" y="5212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F"/>
                </a:solidFill>
              </a:rPr>
              <a:t>Do not launch an entire factory. Launch the machines that can build, maintain and eventually expand the factory in space.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03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6" name="Shape 23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lab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Core product: ASCS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Autonomous Space Construction System — the first investable technology platform.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658368" y="187452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7FBFF"/>
                </a:solidFill>
              </a:rPr>
              <a:t>ASCS is the AI + robotics + digital-twin stack for building the first factory modules beyond Earth.</a:t>
            </a:r>
            <a:endParaRPr lang="en-US" sz="1540" dirty="0"/>
          </a:p>
        </p:txBody>
      </p:sp>
      <p:sp>
        <p:nvSpPr>
          <p:cNvPr id="8" name="Shape 5"/>
          <p:cNvSpPr/>
          <p:nvPr/>
        </p:nvSpPr>
        <p:spPr>
          <a:xfrm>
            <a:off x="777240" y="2852928"/>
            <a:ext cx="1847088" cy="1298448"/>
          </a:xfrm>
          <a:prstGeom prst="roundRect">
            <a:avLst>
              <a:gd name="adj" fmla="val 5634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FFB24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23544" y="299923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B246"/>
                </a:solidFill>
              </a:rPr>
              <a:t>AI mission planner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923544" y="33284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Task sequencing, replanning, anomaly response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017520" y="2852928"/>
            <a:ext cx="1847088" cy="1298448"/>
          </a:xfrm>
          <a:prstGeom prst="roundRect">
            <a:avLst>
              <a:gd name="adj" fmla="val 5634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163824" y="299923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Digital twin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3163824" y="33284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Blueprint, simulation, progress comparison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257800" y="2852928"/>
            <a:ext cx="1847088" cy="1298448"/>
          </a:xfrm>
          <a:prstGeom prst="roundRect">
            <a:avLst>
              <a:gd name="adj" fmla="val 5634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04104" y="299923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Robotic builders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5404104" y="33284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Arms, mobile robots, 3D printing, joining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98080" y="2852928"/>
            <a:ext cx="1847088" cy="1298448"/>
          </a:xfrm>
          <a:prstGeom prst="roundRect">
            <a:avLst>
              <a:gd name="adj" fmla="val 5634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644384" y="299923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Machine vision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7644384" y="33284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Metrology, inspection, alignment, QA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738360" y="2852928"/>
            <a:ext cx="1847088" cy="1298448"/>
          </a:xfrm>
          <a:prstGeom prst="roundRect">
            <a:avLst>
              <a:gd name="adj" fmla="val 5634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884664" y="299923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Ground control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9884664" y="33284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Supervisory commands and recovery actions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77240" y="51480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D8FF"/>
                </a:solidFill>
              </a:rPr>
              <a:t>Autonomous-first • Human-supervised • Remotely recoverable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04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6" name="Shape 23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mission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How ASCS works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The robot fleet follows a pre-installed construction plan but can recover through AI and ground supervision.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1920240" y="2880360"/>
            <a:ext cx="521208" cy="0"/>
          </a:xfrm>
          <a:prstGeom prst="line">
            <a:avLst/>
          </a:prstGeom>
          <a:noFill/>
          <a:ln w="12700">
            <a:solidFill>
              <a:srgbClr val="FFB24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85800" y="242316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FB24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253288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Plan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factory blueprint + robotic sequence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794760" y="2880360"/>
            <a:ext cx="521208" cy="0"/>
          </a:xfrm>
          <a:prstGeom prst="line">
            <a:avLst/>
          </a:prstGeom>
          <a:noFill/>
          <a:ln w="12700">
            <a:solidFill>
              <a:srgbClr val="FFB24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560320" y="242316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651760" y="253288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Position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navigation, docking and alignment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5669280" y="2880360"/>
            <a:ext cx="521208" cy="0"/>
          </a:xfrm>
          <a:prstGeom prst="line">
            <a:avLst/>
          </a:prstGeom>
          <a:noFill/>
          <a:ln w="12700">
            <a:solidFill>
              <a:srgbClr val="FFB24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434840" y="242316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FB24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26280" y="253288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Print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additive manufacturing / feedstock use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543800" y="2880360"/>
            <a:ext cx="521208" cy="0"/>
          </a:xfrm>
          <a:prstGeom prst="line">
            <a:avLst/>
          </a:prstGeom>
          <a:noFill/>
          <a:ln w="12700">
            <a:solidFill>
              <a:srgbClr val="FFB24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309360" y="242316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0" y="253288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Assemble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robotic joining and installation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9418320" y="2880360"/>
            <a:ext cx="521208" cy="0"/>
          </a:xfrm>
          <a:prstGeom prst="line">
            <a:avLst/>
          </a:prstGeom>
          <a:noFill/>
          <a:ln w="12700">
            <a:solidFill>
              <a:srgbClr val="FFB24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183880" y="242316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FB24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275320" y="253288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Inspect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vision, sensors, metrology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10058400" y="242316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149840" y="253288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Correct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AI re-plan or ground-control action</a:t>
            </a:r>
            <a:endParaRPr lang="en-US" sz="930" dirty="0"/>
          </a:p>
        </p:txBody>
      </p:sp>
      <p:sp>
        <p:nvSpPr>
          <p:cNvPr id="24" name="Text 21"/>
          <p:cNvSpPr/>
          <p:nvPr/>
        </p:nvSpPr>
        <p:spPr>
          <a:xfrm>
            <a:off x="914400" y="437083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10" b="1" dirty="0">
                <a:solidFill>
                  <a:srgbClr val="F7FBFF"/>
                </a:solidFill>
              </a:rPr>
              <a:t>Normal mode: autonomous construction. Anomaly mode: AI executes recovery procedures. Critical mode: the system enters a safe state while Earth-based mission control analyzes telemetry and uploads revised instructions.</a:t>
            </a:r>
            <a:endParaRPr lang="en-US" sz="1510" dirty="0"/>
          </a:p>
        </p:txBody>
      </p:sp>
      <p:sp>
        <p:nvSpPr>
          <p:cNvPr id="25" name="Text 22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05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construction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The Vinastra Space Factory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A modular autonomous industrial platform designed for operation beyond Earth orbit.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694944" y="19202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7FBFF"/>
                </a:solidFill>
              </a:rPr>
              <a:t>The long-term factory is envisioned as a modular, expandable industrial platform beyond Earth that receives resources, processes materials and manufactures useful products for space infrastructure or return to Earth.</a:t>
            </a:r>
            <a:endParaRPr lang="en-US" sz="1520" dirty="0"/>
          </a:p>
        </p:txBody>
      </p:sp>
      <p:sp>
        <p:nvSpPr>
          <p:cNvPr id="8" name="Shape 5"/>
          <p:cNvSpPr/>
          <p:nvPr/>
        </p:nvSpPr>
        <p:spPr>
          <a:xfrm>
            <a:off x="713232" y="3063240"/>
            <a:ext cx="4709160" cy="1170432"/>
          </a:xfrm>
          <a:prstGeom prst="roundRect">
            <a:avLst>
              <a:gd name="adj" fmla="val 6250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FFB24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9536" y="3209544"/>
            <a:ext cx="4416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B246"/>
                </a:solidFill>
              </a:rPr>
              <a:t>Inside the factory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859536" y="3538728"/>
            <a:ext cx="4416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R&amp;D labs • material processing • purification • refining • additive manufacturing • robotics maintenance • docking/logistics interfaces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4572000"/>
            <a:ext cx="4709160" cy="1170432"/>
          </a:xfrm>
          <a:prstGeom prst="roundRect">
            <a:avLst>
              <a:gd name="adj" fmla="val 6250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9536" y="4718304"/>
            <a:ext cx="4416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Factory role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859536" y="5047488"/>
            <a:ext cx="4416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Support spacecraft servicing, deep-space logistics, lunar/Mars infrastructure, future fuel systems and commercial habitats.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06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asteroidProcess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Future resource-to-product chain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Asteroid resources become manufacturing feedstock for space industry.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1691640" y="3675888"/>
            <a:ext cx="64008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3255264"/>
            <a:ext cx="1298448" cy="841248"/>
          </a:xfrm>
          <a:prstGeom prst="roundRect">
            <a:avLst>
              <a:gd name="adj" fmla="val 760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3364992"/>
            <a:ext cx="1115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Asteroid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resources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566160" y="3675888"/>
            <a:ext cx="64008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423160" y="3255264"/>
            <a:ext cx="1298448" cy="841248"/>
          </a:xfrm>
          <a:prstGeom prst="roundRect">
            <a:avLst>
              <a:gd name="adj" fmla="val 760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514600" y="3364992"/>
            <a:ext cx="1115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Robotic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mining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5440680" y="3675888"/>
            <a:ext cx="64008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297680" y="3255264"/>
            <a:ext cx="1298448" cy="841248"/>
          </a:xfrm>
          <a:prstGeom prst="roundRect">
            <a:avLst>
              <a:gd name="adj" fmla="val 760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389120" y="3364992"/>
            <a:ext cx="1115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Transport to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factory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315200" y="3675888"/>
            <a:ext cx="64008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172200" y="3255264"/>
            <a:ext cx="1298448" cy="841248"/>
          </a:xfrm>
          <a:prstGeom prst="roundRect">
            <a:avLst>
              <a:gd name="adj" fmla="val 760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FFB24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263640" y="3364992"/>
            <a:ext cx="1115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Purification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&amp; refining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9189720" y="3675888"/>
            <a:ext cx="64008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046720" y="3255264"/>
            <a:ext cx="1298448" cy="841248"/>
          </a:xfrm>
          <a:prstGeom prst="roundRect">
            <a:avLst>
              <a:gd name="adj" fmla="val 760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138160" y="3364992"/>
            <a:ext cx="1115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3D-printed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products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9921240" y="3255264"/>
            <a:ext cx="1298448" cy="841248"/>
          </a:xfrm>
          <a:prstGeom prst="roundRect">
            <a:avLst>
              <a:gd name="adj" fmla="val 7609"/>
            </a:avLst>
          </a:prstGeom>
          <a:solidFill>
            <a:srgbClr val="0D2038">
              <a:alpha val="95000"/>
            </a:srgbClr>
          </a:solidFill>
          <a:ln w="12700">
            <a:solidFill>
              <a:srgbClr val="00D8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012680" y="3364992"/>
            <a:ext cx="1115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Use in space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7FBFF"/>
                </a:solidFill>
              </a:rPr>
              <a:t>or return</a:t>
            </a:r>
            <a:endParaRPr lang="en-US" sz="930" dirty="0"/>
          </a:p>
        </p:txBody>
      </p:sp>
      <p:sp>
        <p:nvSpPr>
          <p:cNvPr id="24" name="Text 21"/>
          <p:cNvSpPr/>
          <p:nvPr/>
        </p:nvSpPr>
        <p:spPr>
          <a:xfrm>
            <a:off x="713232" y="507492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BFF"/>
                </a:solidFill>
              </a:rPr>
              <a:t>First milestone: build the autonomous construction capability. Later milestone: integrate space-resource feedstock into the factory.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07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labD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Prototype-1 plan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Build a ground-based ASCS demonstrator before attempting a space mission.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749808" y="190195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F7FBFF"/>
                </a:solidFill>
              </a:rPr>
              <a:t>18-month objective: demonstrate robotic systems that read a digital blueprint, manufacture/handle components, assemble a factory-module structure, inspect it and recover from errors under ground-control supervision.</a:t>
            </a:r>
            <a:endParaRPr lang="en-US" sz="146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FFB24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69264" y="3072384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B246"/>
                </a:solidFill>
              </a:rPr>
              <a:t>Autonomous assembly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969264" y="3401568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Robot positions and joins modular structural elements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89120" y="292608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35424" y="3072384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Robotic 3D printing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4535424" y="3401568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Demonstrate additive manufacturing of test components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55280" y="292608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101584" y="3072384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Digital twin comparison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8101584" y="3401568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Compare built module against the approved model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2960" y="4187952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9264" y="4334256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Fault recovery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969264" y="4663440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Detect misalignment and trigger correction workflow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389120" y="4187952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35424" y="4334256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Mission control UI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4535424" y="4663440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Earth-based monitoring and high-level intervention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08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5" name="Shape 22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controlD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Current status &amp; technical assets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Early-stage company with a defined platform thesis and a developing R&amp;D ecosystem.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749808" y="182880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B246"/>
                </a:solidFill>
              </a:rPr>
              <a:t>Company formed</a:t>
            </a:r>
            <a:endParaRPr lang="en-US" sz="1040" dirty="0"/>
          </a:p>
        </p:txBody>
      </p:sp>
      <p:sp>
        <p:nvSpPr>
          <p:cNvPr id="8" name="Text 5"/>
          <p:cNvSpPr/>
          <p:nvPr/>
        </p:nvSpPr>
        <p:spPr>
          <a:xfrm>
            <a:off x="2971800" y="181051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</a:rPr>
              <a:t>Vinastra Aerospace Pvt. Ltd. incorporated in 2026; founder-led early-stage DeepTech venture.</a:t>
            </a:r>
            <a:endParaRPr lang="en-US" sz="1060" dirty="0"/>
          </a:p>
        </p:txBody>
      </p:sp>
      <p:sp>
        <p:nvSpPr>
          <p:cNvPr id="9" name="Text 6"/>
          <p:cNvSpPr/>
          <p:nvPr/>
        </p:nvSpPr>
        <p:spPr>
          <a:xfrm>
            <a:off x="749808" y="2542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B246"/>
                </a:solidFill>
              </a:rPr>
              <a:t>Technical direction</a:t>
            </a:r>
            <a:endParaRPr lang="en-US" sz="1040" dirty="0"/>
          </a:p>
        </p:txBody>
      </p:sp>
      <p:sp>
        <p:nvSpPr>
          <p:cNvPr id="10" name="Text 7"/>
          <p:cNvSpPr/>
          <p:nvPr/>
        </p:nvSpPr>
        <p:spPr>
          <a:xfrm>
            <a:off x="2971800" y="252374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</a:rPr>
              <a:t>ASCS architecture, autonomous construction logic and deep-space factory concept defined.</a:t>
            </a:r>
            <a:endParaRPr lang="en-US" sz="1060" dirty="0"/>
          </a:p>
        </p:txBody>
      </p:sp>
      <p:sp>
        <p:nvSpPr>
          <p:cNvPr id="11" name="Text 8"/>
          <p:cNvSpPr/>
          <p:nvPr/>
        </p:nvSpPr>
        <p:spPr>
          <a:xfrm>
            <a:off x="749808" y="325526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B246"/>
                </a:solidFill>
              </a:rPr>
              <a:t>Design assets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2971800" y="323697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</a:rPr>
              <a:t>Preliminary factory architecture, construction sequence study and mission architecture under development.</a:t>
            </a:r>
            <a:endParaRPr lang="en-US" sz="1060" dirty="0"/>
          </a:p>
        </p:txBody>
      </p:sp>
      <p:sp>
        <p:nvSpPr>
          <p:cNvPr id="13" name="Text 10"/>
          <p:cNvSpPr/>
          <p:nvPr/>
        </p:nvSpPr>
        <p:spPr>
          <a:xfrm>
            <a:off x="749808" y="39684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B246"/>
                </a:solidFill>
              </a:rPr>
              <a:t>Talent pipeline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2971800" y="395020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</a:rPr>
              <a:t>Vinastra SpaceTech Research Fellowship to attract students, engineers and researchers.</a:t>
            </a:r>
            <a:endParaRPr lang="en-US" sz="1060" dirty="0"/>
          </a:p>
        </p:txBody>
      </p:sp>
      <p:sp>
        <p:nvSpPr>
          <p:cNvPr id="15" name="Text 12"/>
          <p:cNvSpPr/>
          <p:nvPr/>
        </p:nvSpPr>
        <p:spPr>
          <a:xfrm>
            <a:off x="749808" y="46817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B246"/>
                </a:solidFill>
              </a:rPr>
              <a:t>Ecosystem connection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2971800" y="46634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</a:rPr>
              <a:t>The Spark of Wisdom — an IIRS/ISRO Nodal Centre with 5+ years of space/STEM education activity.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749808" y="56875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0D8FF"/>
                </a:solidFill>
              </a:rPr>
              <a:t>Investor focus: convert current architecture into a working prototype with measurable technical milestones.</a:t>
            </a:r>
            <a:endParaRPr lang="en-US" sz="1340" dirty="0"/>
          </a:p>
        </p:txBody>
      </p:sp>
      <p:sp>
        <p:nvSpPr>
          <p:cNvPr id="18" name="Text 15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09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0" name="Shape 17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Market opportunity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The macro space economy is large, but Vinastra starts with a focused beachhead in autonomous space robotics, ISAM, digital-twin/autonomy software and robotic construction.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BFF"/>
                </a:solidFill>
              </a:rPr>
              <a:t>$630B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B9C7D8"/>
                </a:solidFill>
              </a:rPr>
              <a:t>global space economy in 2023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2880360" y="2331720"/>
            <a:ext cx="960120" cy="0"/>
          </a:xfrm>
          <a:prstGeom prst="line">
            <a:avLst/>
          </a:prstGeom>
          <a:noFill/>
          <a:ln w="12700">
            <a:solidFill>
              <a:srgbClr val="23415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96512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D8FF"/>
                </a:solidFill>
              </a:rPr>
              <a:t>$1.8T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14800" y="26700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B9C7D8"/>
                </a:solidFill>
              </a:rPr>
              <a:t>projected by 2035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B246"/>
                </a:solidFill>
              </a:rPr>
              <a:t>Beachhead markets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868680" y="416052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14984" y="4306824"/>
            <a:ext cx="2130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Space robotics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014984" y="463600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Robotic arms, autonomous assembly and servicing tools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66160" y="416052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12464" y="4306824"/>
            <a:ext cx="2130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ISAM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712464" y="463600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In-space servicing, assembly and manufacturing technology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416052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9944" y="4306824"/>
            <a:ext cx="2130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Digital twin + autonomy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409944" y="463600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Mission planning, monitoring and fault recovery software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61120" y="416052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07424" y="4306824"/>
            <a:ext cx="2130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Space resources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07424" y="463600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Long-term processing and manufacturing infrastructure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" y="6080760"/>
            <a:ext cx="7863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7F92A8"/>
                </a:solidFill>
              </a:rPr>
              <a:t>Source: World Economic Forum / McKinsey “Space: The $1.8 Trillion Opportunity for Global Economic Growth”.</a:t>
            </a:r>
            <a:endParaRPr lang="en-US" sz="590" dirty="0"/>
          </a:p>
        </p:txBody>
      </p:sp>
      <p:sp>
        <p:nvSpPr>
          <p:cNvPr id="25" name="Text 23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10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processing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Business model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Revenue evolves from ground-demonstrable technology to space-factory services.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777240" y="2542032"/>
            <a:ext cx="2359152" cy="1600200"/>
          </a:xfrm>
          <a:prstGeom prst="roundRect">
            <a:avLst>
              <a:gd name="adj" fmla="val 457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FFB24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23544" y="2688336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B246"/>
                </a:solidFill>
              </a:rPr>
              <a:t>Now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923544" y="3017520"/>
            <a:ext cx="20665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R&amp;D contracts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prototype development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software + simulation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566160" y="2542032"/>
            <a:ext cx="2359152" cy="1600200"/>
          </a:xfrm>
          <a:prstGeom prst="roundRect">
            <a:avLst>
              <a:gd name="adj" fmla="val 457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712464" y="2688336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Next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3712464" y="3017520"/>
            <a:ext cx="20665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Proprietary robotics technology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digital twin platform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construction-control systems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355080" y="2542032"/>
            <a:ext cx="2359152" cy="1600200"/>
          </a:xfrm>
          <a:prstGeom prst="roundRect">
            <a:avLst>
              <a:gd name="adj" fmla="val 457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01384" y="2688336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Space demo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6501384" y="3017520"/>
            <a:ext cx="20665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Payload partnerships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ISAM collaborations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licensing and joint missions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9144000" y="2542032"/>
            <a:ext cx="2359152" cy="1600200"/>
          </a:xfrm>
          <a:prstGeom prst="roundRect">
            <a:avLst>
              <a:gd name="adj" fmla="val 4571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290304" y="2688336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Long term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9290304" y="3017520"/>
            <a:ext cx="20665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Factory 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manufacturing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resource processing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servicing + logistics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68680" y="5074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7FBFF"/>
                </a:solidFill>
              </a:rPr>
              <a:t>Important positioning: The Spark of Wisdom can support education, outreach and talent; Vinastra’s investor story should focus on DeepTech technology and industrial space infrastructure.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11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2" name="Shape 19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mission_dark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Go-to-market through partnerships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DeepTech space infrastructure must be developed with institutions, labs and strategic partners.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777240" y="210312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FFB24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23544" y="2249424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B246"/>
                </a:solidFill>
              </a:rPr>
              <a:t>Universities &amp; labs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923544" y="257860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robotics testing, simulations, student research, publications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35424" y="2249424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Space agencies &amp; grants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4535424" y="257860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technology development programs, ISAM and autonomy research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001000" y="210312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47304" y="2249424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Industry partners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8147304" y="257860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robotics, additive manufacturing, sensors, embedded systems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77240" y="338328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23544" y="3529584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Incubators &amp; investors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923544" y="385876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capital, mentorship, customer discovery, prototype validation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389120" y="3383280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535424" y="3529584"/>
            <a:ext cx="2679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Near-term + long-term customers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4535424" y="3858768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R&amp;D programs, universities, labs, space-tech companies and ISAM technology partners; long-term: satellite operators, space stations, lunar/Mars logistics and manufacturing players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12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Technology milestones that make the moonshot investable.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1399032" y="2359152"/>
            <a:ext cx="0" cy="2240280"/>
          </a:xfrm>
          <a:prstGeom prst="line">
            <a:avLst/>
          </a:prstGeom>
          <a:noFill/>
          <a:ln w="12700">
            <a:solidFill>
              <a:srgbClr val="FFB24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80160" y="2240280"/>
            <a:ext cx="237744" cy="237744"/>
          </a:xfrm>
          <a:prstGeom prst="ellipse">
            <a:avLst/>
          </a:prstGeom>
          <a:solidFill>
            <a:srgbClr val="FFB246"/>
          </a:solidFill>
          <a:ln w="12700">
            <a:solidFill>
              <a:srgbClr val="FFB24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BFF"/>
                </a:solidFill>
              </a:rPr>
              <a:t>2026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49808" y="4773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B246"/>
                </a:solidFill>
              </a:rPr>
              <a:t>Architecture + team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658368" y="51389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9C7D8"/>
                </a:solidFill>
              </a:rPr>
              <a:t>ASCS concept, design assets, fellowship, partner mapping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82696" y="2359152"/>
            <a:ext cx="0" cy="2240280"/>
          </a:xfrm>
          <a:prstGeom prst="line">
            <a:avLst/>
          </a:prstGeom>
          <a:noFill/>
          <a:ln w="12700">
            <a:solidFill>
              <a:srgbClr val="FFB24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163824" y="2240280"/>
            <a:ext cx="237744" cy="237744"/>
          </a:xfrm>
          <a:prstGeom prst="ellipse">
            <a:avLst/>
          </a:prstGeom>
          <a:solidFill>
            <a:srgbClr val="FFB246"/>
          </a:solidFill>
          <a:ln w="12700">
            <a:solidFill>
              <a:srgbClr val="FFB24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98064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BFF"/>
                </a:solidFill>
              </a:rPr>
              <a:t>2027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633472" y="4773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B246"/>
                </a:solidFill>
              </a:rPr>
              <a:t>Ground demo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2542032" y="51389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9C7D8"/>
                </a:solidFill>
              </a:rPr>
              <a:t>Factory-module autonomous construction demonstrator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166360" y="2359152"/>
            <a:ext cx="0" cy="224028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47488" y="2240280"/>
            <a:ext cx="237744" cy="23774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81728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BFF"/>
                </a:solidFill>
              </a:rPr>
              <a:t>2028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4517136" y="4773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D8FF"/>
                </a:solidFill>
              </a:rPr>
              <a:t>Integrated cell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4425696" y="51389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9C7D8"/>
                </a:solidFill>
              </a:rPr>
              <a:t>Robotic 3D printing, inspection, re-planning and control UI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7050024" y="2359152"/>
            <a:ext cx="0" cy="224028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31152" y="2240280"/>
            <a:ext cx="237744" cy="23774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65392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BFF"/>
                </a:solidFill>
              </a:rPr>
              <a:t>2029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6400800" y="4773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D8FF"/>
                </a:solidFill>
              </a:rPr>
              <a:t>Relevant-environment testing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309360" y="51389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9C7D8"/>
                </a:solidFill>
              </a:rPr>
              <a:t>Vacuum/thermal/analog testing and partner payload planning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8933688" y="2359152"/>
            <a:ext cx="0" cy="224028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814816" y="2240280"/>
            <a:ext cx="237744" cy="23774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449056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BFF"/>
                </a:solidFill>
              </a:rPr>
              <a:t>2030+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8284464" y="4773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D8FF"/>
                </a:solidFill>
              </a:rPr>
              <a:t>Space demo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8193024" y="51389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9C7D8"/>
                </a:solidFill>
              </a:rPr>
              <a:t>Small in-space construction/inspection experiment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10817352" y="2359152"/>
            <a:ext cx="0" cy="224028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698480" y="2240280"/>
            <a:ext cx="237744" cy="237744"/>
          </a:xfrm>
          <a:prstGeom prst="ellipse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332720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BFF"/>
                </a:solidFill>
              </a:rPr>
              <a:t>Long term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10168128" y="4773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D8FF"/>
                </a:solidFill>
              </a:rPr>
              <a:t>Deep-space factory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10076688" y="51389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B9C7D8"/>
                </a:solidFill>
              </a:rPr>
              <a:t>Modular factory, resource processing and manufacturing services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13</a:t>
            </a:r>
            <a:endParaRPr lang="en-US" sz="660" dirty="0"/>
          </a:p>
        </p:txBody>
      </p:sp>
      <p:sp>
        <p:nvSpPr>
          <p:cNvPr id="37" name="Text 35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labD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Team &amp; hiring plan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Founder-led vision with a multidisciplinary technical team to be built around the prototype.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777240" y="18745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FFB24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23544" y="2020824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B246"/>
                </a:solidFill>
              </a:rPr>
              <a:t>Founder &amp; CEO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923544" y="2350008"/>
            <a:ext cx="4828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Vinay Jeedi — building Vinastra Aerospace around autonomous robotics, AI, space manufacturing and future space infrastructure.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7240" y="34290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0D8FF"/>
                </a:solidFill>
              </a:rPr>
              <a:t>Required technical roles for Prototype-1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896112" y="3858768"/>
            <a:ext cx="49377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40" dirty="0">
                <a:solidFill>
                  <a:srgbClr val="F7FBFF"/>
                </a:solidFill>
              </a:rPr>
              <a:t>Robotics / mechatronics engineer</a:t>
            </a:r>
            <a:endParaRPr lang="en-US" sz="1040" dirty="0"/>
          </a:p>
          <a:p>
            <a:r>
              <a:rPr lang="en-US" sz="1040" dirty="0">
                <a:solidFill>
                  <a:srgbClr val="F7FBFF"/>
                </a:solidFill>
              </a:rPr>
              <a:t>AI/ML and machine-vision engineer</a:t>
            </a:r>
            <a:endParaRPr lang="en-US" sz="1040" dirty="0"/>
          </a:p>
          <a:p>
            <a:r>
              <a:rPr lang="en-US" sz="1040" dirty="0">
                <a:solidFill>
                  <a:srgbClr val="F7FBFF"/>
                </a:solidFill>
              </a:rPr>
              <a:t>Mechanical / CAD / CAE engineer</a:t>
            </a:r>
            <a:endParaRPr lang="en-US" sz="1040" dirty="0"/>
          </a:p>
          <a:p>
            <a:r>
              <a:rPr lang="en-US" sz="1040" dirty="0">
                <a:solidFill>
                  <a:srgbClr val="F7FBFF"/>
                </a:solidFill>
              </a:rPr>
              <a:t>Embedded systems and control engineer</a:t>
            </a:r>
            <a:endParaRPr lang="en-US" sz="1040" dirty="0"/>
          </a:p>
          <a:p>
            <a:r>
              <a:rPr lang="en-US" sz="1040" dirty="0">
                <a:solidFill>
                  <a:srgbClr val="F7FBFF"/>
                </a:solidFill>
              </a:rPr>
              <a:t>Additive manufacturing / materials specialist</a:t>
            </a:r>
            <a:endParaRPr lang="en-US" sz="1040" dirty="0"/>
          </a:p>
          <a:p>
            <a:r>
              <a:rPr lang="en-US" sz="1040" dirty="0">
                <a:solidFill>
                  <a:srgbClr val="F7FBFF"/>
                </a:solidFill>
              </a:rPr>
              <a:t>Space systems advisor and mission architect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6446520" y="1874520"/>
            <a:ext cx="4251960" cy="1097280"/>
          </a:xfrm>
          <a:prstGeom prst="roundRect">
            <a:avLst>
              <a:gd name="adj" fmla="val 6667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592824" y="2020824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Advisory gap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6592824" y="2350008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Add senior advisors in robotics, space systems, manufacturing, fundraising and legal/IP before major investor outreach.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46520" y="3429000"/>
            <a:ext cx="4251960" cy="1097280"/>
          </a:xfrm>
          <a:prstGeom prst="roundRect">
            <a:avLst>
              <a:gd name="adj" fmla="val 6667"/>
            </a:avLst>
          </a:prstGeom>
          <a:solidFill>
            <a:srgbClr val="0A1628">
              <a:alpha val="93000"/>
            </a:srgbClr>
          </a:solidFill>
          <a:ln w="12700">
            <a:solidFill>
              <a:srgbClr val="00D8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592824" y="3575304"/>
            <a:ext cx="3959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D8FF"/>
                </a:solidFill>
              </a:rPr>
              <a:t>Talent engine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6592824" y="3904488"/>
            <a:ext cx="3959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Vinastra Fellowship + The Spark of Wisdom (TSOW) network can help identify committed students, researchers and project collaborators.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14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0" name="Shape 17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controlD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Investment ask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Proposed seed raise to build the first ASCS prototype and produce investor-grade technical proof.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B246"/>
                </a:solidFill>
              </a:rPr>
              <a:t>Proposed Seed Raise: ₹2.5 Cr | 18-Month Runway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4672" y="25146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9C7D8"/>
                </a:solidFill>
              </a:rPr>
              <a:t>Objective: deliver a validated ground-based ASCS Prototype-1 and prepare the first partner-led in-space technology demonstration.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896112" y="32461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D8FF"/>
                </a:solidFill>
              </a:rPr>
              <a:t>35%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1673352" y="32461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BFF"/>
                </a:solidFill>
              </a:rPr>
              <a:t>Prototype hardware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3657600" y="32461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9C7D8"/>
                </a:solidFill>
              </a:rPr>
              <a:t>robotic arms, mobile base, sensors, printer/joining tools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896112" y="37581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D8FF"/>
                </a:solidFill>
              </a:rPr>
              <a:t>25%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1673352" y="37581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BFF"/>
                </a:solidFill>
              </a:rPr>
              <a:t>AI + software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3657600" y="375818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9C7D8"/>
                </a:solidFill>
              </a:rPr>
              <a:t>digital twin, autonomy, mission control UI, machine vision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96112" y="4270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D8FF"/>
                </a:solidFill>
              </a:rPr>
              <a:t>20%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673352" y="42702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BFF"/>
                </a:solidFill>
              </a:rPr>
              <a:t>Engineering team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3657600" y="4270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9C7D8"/>
                </a:solidFill>
              </a:rPr>
              <a:t>core technical hiring and contractor specialists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896112" y="47823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D8FF"/>
                </a:solidFill>
              </a:rPr>
              <a:t>10%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1673352" y="4782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BFF"/>
                </a:solidFill>
              </a:rPr>
              <a:t>Testing &amp; partnerships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3657600" y="478231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9C7D8"/>
                </a:solidFill>
              </a:rPr>
              <a:t>labs, fixtures, materials and validation programs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896112" y="5294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D8FF"/>
                </a:solidFill>
              </a:rPr>
              <a:t>10%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1673352" y="52943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BFF"/>
                </a:solidFill>
              </a:rPr>
              <a:t>IP + operations</a:t>
            </a:r>
            <a:endParaRPr lang="en-US" sz="1030" dirty="0"/>
          </a:p>
        </p:txBody>
      </p:sp>
      <p:sp>
        <p:nvSpPr>
          <p:cNvPr id="23" name="Text 20"/>
          <p:cNvSpPr/>
          <p:nvPr/>
        </p:nvSpPr>
        <p:spPr>
          <a:xfrm>
            <a:off x="3657600" y="529437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9C7D8"/>
                </a:solidFill>
              </a:rPr>
              <a:t>planned IP filings, compliance, documentation and company runway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BFF"/>
                </a:solidFill>
              </a:rPr>
              <a:t>Milestone at end of raise: working ground ASCS demonstrator + technical documentation + partner-ready space demo proposal.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15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asteroid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Defensibility strategy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Build proprietary knowledge in the hardest layer: autonomous industrial construction in space.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841248" y="19110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246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07008" y="2020824"/>
            <a:ext cx="45720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828800" y="1938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BFF"/>
                </a:solidFill>
              </a:rPr>
              <a:t>Construction-control software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4572000" y="193852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C7D8"/>
                </a:solidFill>
              </a:rPr>
              <a:t>Mission logic, sequencing, re-planning and fleet coordination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841248" y="2606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246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07008" y="2715768"/>
            <a:ext cx="45720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828800" y="2633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BFF"/>
                </a:solidFill>
              </a:rPr>
              <a:t>Digital-twin architecture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4572000" y="263347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C7D8"/>
                </a:solidFill>
              </a:rPr>
              <a:t>Blueprint-to-reality verification and anomaly tracking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841248" y="330098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246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207008" y="3410712"/>
            <a:ext cx="45720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828800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BFF"/>
                </a:solidFill>
              </a:rPr>
              <a:t>Robotic procedures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4572000" y="332841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C7D8"/>
                </a:solidFill>
              </a:rPr>
              <a:t>Additive construction, assembly, inspection and fault recovery workflows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841248" y="39959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246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207008" y="4105656"/>
            <a:ext cx="45720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828800" y="4023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BFF"/>
                </a:solidFill>
              </a:rPr>
              <a:t>Experimental data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4572000" y="402336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C7D8"/>
                </a:solidFill>
              </a:rPr>
              <a:t>Ground prototype data becomes the foundation for future autonomy models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841248" y="46908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246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207008" y="4800600"/>
            <a:ext cx="457200" cy="0"/>
          </a:xfrm>
          <a:prstGeom prst="line">
            <a:avLst/>
          </a:prstGeom>
          <a:noFill/>
          <a:ln w="12700">
            <a:solidFill>
              <a:srgbClr val="00D8F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828800" y="4718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BFF"/>
                </a:solidFill>
              </a:rPr>
              <a:t>Planned IP portfolio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4572000" y="471830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9C7D8"/>
                </a:solidFill>
              </a:rPr>
              <a:t>Patentable inventions, proprietary design documentation and interfaces developed through ASCS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16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Investor Pitch Deck • Confidential • 2026</a:t>
            </a:r>
            <a:endParaRPr lang="en-US" sz="620" dirty="0"/>
          </a:p>
        </p:txBody>
      </p:sp>
      <p:sp>
        <p:nvSpPr>
          <p:cNvPr id="29" name="Shape 26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nastra_revised_dark/hero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65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2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310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7FBFF"/>
                </a:solidFill>
              </a:rPr>
              <a:t>VINASTRA AEROSPACE</a:t>
            </a:r>
            <a:endParaRPr lang="en-US" sz="770" dirty="0"/>
          </a:p>
        </p:txBody>
      </p:sp>
      <p:sp>
        <p:nvSpPr>
          <p:cNvPr id="5" name="Text 2"/>
          <p:cNvSpPr/>
          <p:nvPr/>
        </p:nvSpPr>
        <p:spPr>
          <a:xfrm>
            <a:off x="621792" y="8229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Partnership invitation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3533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9C7D8"/>
                </a:solidFill>
              </a:rPr>
              <a:t>Join Vinastra in building the autonomous construction layer for future space factories.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BFF"/>
                </a:solidFill>
              </a:rPr>
              <a:t>Seeking seed investors, grants, technology partners and research collaborators for ASCS Prototype-1.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3232" y="29992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D8FF"/>
                </a:solidFill>
              </a:rPr>
              <a:t>Autonomous Robotics → Space Construction → Space Factory → Resource Processing → Space Industrial Economy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22452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B9C7D8"/>
                </a:solidFill>
              </a:rPr>
              <a:t>Vinay Jeedi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B9C7D8"/>
                </a:solidFill>
              </a:rPr>
              <a:t>Founder &amp; CEO, Vinastra Aerospace Private Limited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B9C7D8"/>
                </a:solidFill>
              </a:rPr>
              <a:t>Email: thesparkofwisdom@gmail.com  •  LinkedIn: Vinay Jeedi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731520" y="57150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B246"/>
                </a:solidFill>
              </a:rPr>
              <a:t>Innovate. Research. Inspire. Build the Future.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384048" y="6492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7F92A8"/>
                </a:solidFill>
              </a:rPr>
              <a:t>17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3657600" y="649224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7F92A8"/>
                </a:solidFill>
              </a:rPr>
              <a:t>Vinastra Aerospace • Investor Pitch Deck • Confidential</a:t>
            </a:r>
            <a:endParaRPr lang="en-US" sz="620" dirty="0"/>
          </a:p>
        </p:txBody>
      </p:sp>
      <p:sp>
        <p:nvSpPr>
          <p:cNvPr id="13" name="Shape 10"/>
          <p:cNvSpPr/>
          <p:nvPr/>
        </p:nvSpPr>
        <p:spPr>
          <a:xfrm>
            <a:off x="82296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778240" y="6547104"/>
            <a:ext cx="2606040" cy="0"/>
          </a:xfrm>
          <a:prstGeom prst="line">
            <a:avLst/>
          </a:prstGeom>
          <a:noFill/>
          <a:ln w="12700">
            <a:solidFill>
              <a:srgbClr val="23415F">
                <a:alpha val="8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Vinastra Aerospace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Vinastra Aerospace Investor Pitch Deck Revised 2026</dc:title>
  <dc:subject>Revised Investor Pitch Deck</dc:subject>
  <dc:creator>Vinastra Aerospace</dc:creator>
  <cp:lastModifiedBy>Vinastra Aerospace</cp:lastModifiedBy>
  <cp:revision>1</cp:revision>
  <dcterms:created xsi:type="dcterms:W3CDTF">2026-10-06T19:29:37Z</dcterms:created>
  <dcterms:modified xsi:type="dcterms:W3CDTF">2026-10-06T19:29:37Z</dcterms:modified>
</cp:coreProperties>
</file>